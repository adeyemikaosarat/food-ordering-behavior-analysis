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7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 Activity Index</c:v>
                </c:pt>
              </c:strCache>
            </c:strRef>
          </c:tx>
          <c:spPr>
            <a:solidFill>
              <a:srgbClr val="F96167"/>
            </a:solidFill>
            <a:ln w="38100" cap="flat">
              <a:solidFill>
                <a:srgbClr val="F9616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96167"/>
              </a:solidFill>
              <a:ln w="9525" cap="flat">
                <a:solidFill>
                  <a:srgbClr val="F9616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Morning</c:v>
                  </c:pt>
                  <c:pt idx="1">
                    <c:v>Night</c:v>
                  </c:pt>
                  <c:pt idx="2">
                    <c:v>Evening</c:v>
                  </c:pt>
                  <c:pt idx="3">
                    <c:v>Afternoon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314</c:v>
                </c:pt>
                <c:pt idx="1">
                  <c:v>312.5</c:v>
                </c:pt>
                <c:pt idx="2">
                  <c:v>311.2</c:v>
                </c:pt>
                <c:pt idx="3">
                  <c:v>310.1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F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9E9F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6F85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B6F85"/>
                    </a:solidFill>
                    <a:latin typeface="Arial"/>
                  </a:rPr>
                  <a:t>Relative Order Index (M)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F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Meal Type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F3C7E"/>
              </a:solidFill>
              <a:effectLst/>
            </c:spPr>
          </c:dPt>
          <c:dPt>
            <c:idx val="1"/>
            <c:bubble3D val="0"/>
            <c:spPr>
              <a:solidFill>
                <a:srgbClr val="F96167"/>
              </a:solidFill>
              <a:effectLst/>
            </c:spPr>
          </c:dPt>
          <c:dPt>
            <c:idx val="2"/>
            <c:bubble3D val="0"/>
            <c:spPr>
              <a:solidFill>
                <a:srgbClr val="F9E795"/>
              </a:solidFill>
              <a:effectLst/>
            </c:spPr>
          </c:dPt>
          <c:dPt>
            <c:idx val="3"/>
            <c:bubble3D val="0"/>
            <c:spPr>
              <a:solidFill>
                <a:srgbClr val="8B93C7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Breakfast</c:v>
                </c:pt>
                <c:pt idx="1">
                  <c:v>Dinner</c:v>
                </c:pt>
                <c:pt idx="2">
                  <c:v>Snacks</c:v>
                </c:pt>
                <c:pt idx="3">
                  <c:v>Lunch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25.16</c:v>
                </c:pt>
                <c:pt idx="1">
                  <c:v>25.04</c:v>
                </c:pt>
                <c:pt idx="2">
                  <c:v>25.02</c:v>
                </c:pt>
                <c:pt idx="3">
                  <c:v>24.78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2B2B3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Restaurant Type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F3C7E"/>
              </a:solidFill>
              <a:effectLst/>
            </c:spPr>
          </c:dPt>
          <c:dPt>
            <c:idx val="1"/>
            <c:bubble3D val="0"/>
            <c:spPr>
              <a:solidFill>
                <a:srgbClr val="F96167"/>
              </a:solidFill>
              <a:effectLst/>
            </c:spPr>
          </c:dPt>
          <c:dPt>
            <c:idx val="2"/>
            <c:bubble3D val="0"/>
            <c:spPr>
              <a:solidFill>
                <a:srgbClr val="F9E795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Premium</c:v>
                </c:pt>
                <c:pt idx="1">
                  <c:v>Budget</c:v>
                </c:pt>
                <c:pt idx="2">
                  <c:v>Mid-range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33.81</c:v>
                </c:pt>
                <c:pt idx="1">
                  <c:v>33.37</c:v>
                </c:pt>
                <c:pt idx="2">
                  <c:v>32.82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B2B3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(₹M)</c:v>
                </c:pt>
              </c:strCache>
            </c:strRef>
          </c:tx>
          <c:spPr>
            <a:solidFill>
              <a:srgbClr val="2F3C7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2B2B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North Indian</c:v>
                  </c:pt>
                  <c:pt idx="1">
                    <c:v>Biryani</c:v>
                  </c:pt>
                  <c:pt idx="2">
                    <c:v>Chinese</c:v>
                  </c:pt>
                  <c:pt idx="3">
                    <c:v>South Indian</c:v>
                  </c:pt>
                  <c:pt idx="4">
                    <c:v>Fast Food</c:v>
                  </c:pt>
                  <c:pt idx="5">
                    <c:v>Desserts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4.9</c:v>
                </c:pt>
                <c:pt idx="1">
                  <c:v>4.8</c:v>
                </c:pt>
                <c:pt idx="2">
                  <c:v>4.6</c:v>
                </c:pt>
                <c:pt idx="3">
                  <c:v>4.5</c:v>
                </c:pt>
                <c:pt idx="4">
                  <c:v>4.4</c:v>
                </c:pt>
                <c:pt idx="5">
                  <c:v>4.19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2B2B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B6F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9E9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F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Orders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B2B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Average</c:v>
                  </c:pt>
                  <c:pt idx="1">
                    <c:v>Fast</c:v>
                  </c:pt>
                  <c:pt idx="2">
                    <c:v>Slow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18000</c:v>
                </c:pt>
                <c:pt idx="1">
                  <c:v>17000</c:v>
                </c:pt>
                <c:pt idx="2">
                  <c:v>15000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B2B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F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9E9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F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Repeat Orders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F3C7E"/>
              </a:solidFill>
              <a:effectLst/>
            </c:spPr>
          </c:dPt>
          <c:dPt>
            <c:idx val="1"/>
            <c:bubble3D val="0"/>
            <c:spPr>
              <a:solidFill>
                <a:srgbClr val="E4E6F0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Repeat Customers</c:v>
                </c:pt>
                <c:pt idx="1">
                  <c:v>New / One-time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50</c:v>
                </c:pt>
                <c:pt idx="1">
                  <c:v>50</c:v>
                </c:pt>
              </c:numCache>
            </c:numRef>
          </c:val>
        </c:ser>
        <c:firstSliceAng val="0"/>
        <c:holeSize val="7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area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Orders</c:v>
                </c:pt>
              </c:strCache>
            </c:strRef>
          </c:tx>
          <c:spPr>
            <a:solidFill>
              <a:srgbClr val="F96167">
                <a:alpha val="35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Stressed</c:v>
                  </c:pt>
                  <c:pt idx="1">
                    <c:v>Celebrating</c:v>
                  </c:pt>
                  <c:pt idx="2">
                    <c:v>Happy</c:v>
                  </c:pt>
                  <c:pt idx="3">
                    <c:v>Lazy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12600</c:v>
                </c:pt>
                <c:pt idx="1">
                  <c:v>12500</c:v>
                </c:pt>
                <c:pt idx="2">
                  <c:v>12450</c:v>
                </c:pt>
                <c:pt idx="3">
                  <c:v>12200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area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F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9E9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F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slide. Introduce the report as an analysis of the Power BI food ordering dashboard covering revenue, order patterns, delivery performance, and customer behavior.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stage with headline KPIs, then move into four key narrative takeaways that will be expanded in later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Time-of-day trend shows morning peak with gradual decline. Meal type split is nearly even across all four occasions.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Restaurant tier split is essentially equal thirds. Cuisine revenue is broad-based rather than concentrated in one category.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 speed distribution is fairly even with average/fast dominating. Repeat order rate stands at an even 50/50 split.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Mood-driven ordering is fairly balanced, with stress and celebration as the top two emotional triggers.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four concrete, data-backed recommendations tied directly to the metrics shown earlier in the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4" Type="http://schemas.openxmlformats.org/officeDocument/2006/relationships/chart" Target="/ppt/charts/chart2.xml"/><Relationship Id="rId1" Type="http://schemas.openxmlformats.org/officeDocument/2006/relationships/image" Target="../media/image-3-1.png"/><Relationship Id="rId3" Type="http://schemas.openxmlformats.org/officeDocument/2006/relationships/image" Target="../media/image-3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4" Type="http://schemas.openxmlformats.org/officeDocument/2006/relationships/chart" Target="/ppt/charts/chart4.xml"/><Relationship Id="rId1" Type="http://schemas.openxmlformats.org/officeDocument/2006/relationships/image" Target="../media/image-4-1.png"/><Relationship Id="rId3" Type="http://schemas.openxmlformats.org/officeDocument/2006/relationships/image" Target="../media/image-4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5.xml"/><Relationship Id="rId4" Type="http://schemas.openxmlformats.org/officeDocument/2006/relationships/chart" Target="/ppt/charts/chart6.xml"/><Relationship Id="rId1" Type="http://schemas.openxmlformats.org/officeDocument/2006/relationships/image" Target="../media/image-5-1.png"/><Relationship Id="rId3" Type="http://schemas.openxmlformats.org/officeDocument/2006/relationships/image" Target="../media/image-5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7.xml"/><Relationship Id="rId1" Type="http://schemas.openxmlformats.org/officeDocument/2006/relationships/image" Target="../media/image-6-1.png"/><Relationship Id="rId3" Type="http://schemas.openxmlformats.org/officeDocument/2006/relationships/image" Target="../media/image-6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232C5E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572000"/>
            <a:ext cx="3291840" cy="3291840"/>
          </a:xfrm>
          <a:prstGeom prst="ellipse">
            <a:avLst/>
          </a:prstGeom>
          <a:solidFill>
            <a:srgbClr val="232C5E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868680" cy="86868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987552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874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ORDERING ANALYTICS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228600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Food Ordering Trends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Customer Insight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22960" y="41605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9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Power BI Dashboard Deep-Dive on Ordering Behavior, Delivery Performance &amp; Customer Loyalty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22960" y="5989320"/>
            <a:ext cx="2011680" cy="0"/>
          </a:xfrm>
          <a:prstGeom prst="line">
            <a:avLst/>
          </a:prstGeom>
          <a:noFill/>
          <a:ln w="25400">
            <a:solidFill>
              <a:srgbClr val="F9616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6080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from: Food Ordering Distribution Dashboard  |  Report Date: July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snapshot of overall platform performance across all cities, hunger levels, and companies.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146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56232"/>
            <a:ext cx="566928" cy="566928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2002536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5146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6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77240" y="277063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₹27.39M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777240" y="322783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revenue across all orders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319272" y="1600200"/>
            <a:ext cx="25146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47872" y="1856232"/>
            <a:ext cx="566928" cy="566928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4176" y="2002536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47872" y="25146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6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3547872" y="277063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50K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3547872" y="322783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placed platform-wide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089904" y="1600200"/>
            <a:ext cx="25146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318504" y="1856232"/>
            <a:ext cx="566928" cy="566928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808" y="2002536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18504" y="25146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6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RATING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6318504" y="277063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2.99 / 5</a:t>
            </a:r>
            <a:endParaRPr lang="en-US" sz="2400" dirty="0"/>
          </a:p>
        </p:txBody>
      </p:sp>
      <p:sp>
        <p:nvSpPr>
          <p:cNvPr id="21" name="Text 16"/>
          <p:cNvSpPr/>
          <p:nvPr/>
        </p:nvSpPr>
        <p:spPr>
          <a:xfrm>
            <a:off x="6318504" y="322783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satisfaction score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8860536" y="1600200"/>
            <a:ext cx="25146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089136" y="1856232"/>
            <a:ext cx="566928" cy="566928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0" y="2002536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089136" y="25146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6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DELIVERY FEE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9089136" y="277063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₹59.64</a:t>
            </a:r>
            <a:endParaRPr lang="en-US" sz="2400" dirty="0"/>
          </a:p>
        </p:txBody>
      </p:sp>
      <p:sp>
        <p:nvSpPr>
          <p:cNvPr id="27" name="Text 21"/>
          <p:cNvSpPr/>
          <p:nvPr/>
        </p:nvSpPr>
        <p:spPr>
          <a:xfrm>
            <a:off x="9089136" y="322783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fee charged per order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548640" y="3886200"/>
            <a:ext cx="11064240" cy="2331720"/>
          </a:xfrm>
          <a:prstGeom prst="roundRect">
            <a:avLst>
              <a:gd name="adj" fmla="val 3137"/>
            </a:avLst>
          </a:prstGeom>
          <a:solidFill>
            <a:srgbClr val="2F3C7E"/>
          </a:solidFill>
          <a:ln/>
        </p:spPr>
      </p:sp>
      <p:sp>
        <p:nvSpPr>
          <p:cNvPr id="29" name="Text 23"/>
          <p:cNvSpPr/>
          <p:nvPr/>
        </p:nvSpPr>
        <p:spPr>
          <a:xfrm>
            <a:off x="914400" y="4114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1800" dirty="0"/>
          </a:p>
        </p:txBody>
      </p:sp>
      <p:sp>
        <p:nvSpPr>
          <p:cNvPr id="30" name="Text 24"/>
          <p:cNvSpPr/>
          <p:nvPr/>
        </p:nvSpPr>
        <p:spPr>
          <a:xfrm>
            <a:off x="914400" y="45720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are split almost evenly across Breakfast, Lunch, Dinner, and Snacks — no single meal occasion dominates demand.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6172200" y="45720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Premium, Mid-range, and Budget restaurants each contribute roughly a third of total order volume.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914400" y="53492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of all customers (50%) are repeat orderers, indicating solid — but improvable — platform loyalty.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6172200" y="53492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customer rating sits at 2.99/5, signaling meaningful room to improve service quality and satisfaction.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Ordering Patterns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customers order, and what they order it for.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53212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60020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70992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62763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Activity by Time of Day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777240" y="2240280"/>
          <a:ext cx="507492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868680" y="521208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activity peaks in the morning and gradually tapers through the day, dipping to its lowest point in the afternoon.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6263640" y="1325880"/>
            <a:ext cx="539496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583680" y="160020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08" y="1709928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178040" y="16276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by Meal Type</a:t>
            </a:r>
            <a:endParaRPr lang="en-US" sz="1500" dirty="0"/>
          </a:p>
        </p:txBody>
      </p:sp>
      <p:graphicFrame>
        <p:nvGraphicFramePr>
          <p:cNvPr id="14" name="Chart 1" descr=""/>
          <p:cNvGraphicFramePr/>
          <p:nvPr/>
        </p:nvGraphicFramePr>
        <p:xfrm>
          <a:off x="6675120" y="2148840"/>
          <a:ext cx="457200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5" name="Text 9"/>
          <p:cNvSpPr/>
          <p:nvPr/>
        </p:nvSpPr>
        <p:spPr>
          <a:xfrm>
            <a:off x="6675120" y="521208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is remarkably balanced: Breakfast, Dinner, Snacks, and Lunch each represent roughly a quarter of all orders — a truly all-day platform.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Restaurant &amp; Cuisine Mix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revenue comes from, by restaurant tier and cuisine type.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12064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60020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70992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6276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Type Distribution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868680" y="2194560"/>
          <a:ext cx="448056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868680" y="525780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volume is nearly split three ways — Premium (33.8%), Budget (33.4%), and Mid-range (32.8%) restaurants each pull an equal share.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897880" y="1325880"/>
            <a:ext cx="576072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217920" y="160020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1709928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812280" y="16276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Cuisine</a:t>
            </a:r>
            <a:endParaRPr lang="en-US" sz="1500" dirty="0"/>
          </a:p>
        </p:txBody>
      </p:sp>
      <p:graphicFrame>
        <p:nvGraphicFramePr>
          <p:cNvPr id="14" name="Chart 1" descr=""/>
          <p:cNvGraphicFramePr/>
          <p:nvPr/>
        </p:nvGraphicFramePr>
        <p:xfrm>
          <a:off x="6217920" y="2148840"/>
          <a:ext cx="521208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5" name="Text 9"/>
          <p:cNvSpPr/>
          <p:nvPr/>
        </p:nvSpPr>
        <p:spPr>
          <a:xfrm>
            <a:off x="6217920" y="534924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evenly distributed across all six major cuisines, with North Indian and Biryani slightly ahead of Desserts and Fast Food.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Performance &amp; Loyalty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fast orders arrive, and how often customers come back.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61722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60020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70992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6276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 by Delivery Speed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868680" y="2240280"/>
          <a:ext cx="562356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868680" y="5440680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Average-speed deliveries lead order volume (18K), closely followed by Fast (17K); Slow deliveries trail at 15K of total orders.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6903720" y="1325880"/>
            <a:ext cx="4754880" cy="489204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7223760" y="160020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3488" y="1709928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818120" y="16276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Order Rate</a:t>
            </a:r>
            <a:endParaRPr lang="en-US" sz="1500" dirty="0"/>
          </a:p>
        </p:txBody>
      </p:sp>
      <p:graphicFrame>
        <p:nvGraphicFramePr>
          <p:cNvPr id="14" name="Chart 1" descr=""/>
          <p:cNvGraphicFramePr/>
          <p:nvPr/>
        </p:nvGraphicFramePr>
        <p:xfrm>
          <a:off x="7360920" y="2331720"/>
          <a:ext cx="356616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5" name="Text 9"/>
          <p:cNvSpPr/>
          <p:nvPr/>
        </p:nvSpPr>
        <p:spPr>
          <a:xfrm>
            <a:off x="7360920" y="32461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</a:t>
            </a:r>
            <a:endParaRPr lang="en-US" sz="3400" dirty="0"/>
          </a:p>
        </p:txBody>
      </p:sp>
      <p:sp>
        <p:nvSpPr>
          <p:cNvPr id="16" name="Text 10"/>
          <p:cNvSpPr/>
          <p:nvPr/>
        </p:nvSpPr>
        <p:spPr>
          <a:xfrm>
            <a:off x="7360920" y="39776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customers place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6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orders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7178040" y="525780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half of the customer base returns for another order — a strong loyalty foundation with clear room to grow through targeted retention offers.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Mood &amp; Behavior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emotional context behind every order.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653796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60020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70992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6276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 by Mood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868680" y="2240280"/>
          <a:ext cx="59893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7315200" y="1325880"/>
            <a:ext cx="4343400" cy="4892040"/>
          </a:xfrm>
          <a:prstGeom prst="roundRect">
            <a:avLst>
              <a:gd name="adj" fmla="val 1684"/>
            </a:avLst>
          </a:prstGeom>
          <a:solidFill>
            <a:srgbClr val="2F3C7E"/>
          </a:solidFill>
          <a:ln/>
        </p:spPr>
      </p:sp>
      <p:sp>
        <p:nvSpPr>
          <p:cNvPr id="10" name="Shape 6"/>
          <p:cNvSpPr/>
          <p:nvPr/>
        </p:nvSpPr>
        <p:spPr>
          <a:xfrm>
            <a:off x="7635240" y="1600200"/>
            <a:ext cx="457200" cy="457200"/>
          </a:xfrm>
          <a:prstGeom prst="ellipse">
            <a:avLst/>
          </a:prstGeom>
          <a:solidFill>
            <a:srgbClr val="F9E79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4968" y="1709928"/>
            <a:ext cx="237744" cy="23774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229600" y="16276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Tells Us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7635240" y="219456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is the single biggest emotional driver of orders — comfort food and convenience clearly matter most under pressure.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7635240" y="315468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Celebratory orders run a close second, suggesting the platform is a go-to choice for marking good moments.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7635240" y="411480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"Lazy" orders, while lowest, still represent a meaningful ~12.2K of volume — a natural target for convenience-led promotions.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7635240" y="507492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narrow spread across moods (only ~3% variance top-to-bottom) shows the platform serves emotional needs consistently, not just one occasion.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4023360" cy="4023360"/>
          </a:xfrm>
          <a:prstGeom prst="ellipse">
            <a:avLst/>
          </a:prstGeom>
          <a:solidFill>
            <a:srgbClr val="232C5E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389120"/>
            <a:ext cx="3840480" cy="3840480"/>
          </a:xfrm>
          <a:prstGeom prst="ellipse">
            <a:avLst/>
          </a:prstGeom>
          <a:solidFill>
            <a:srgbClr val="232C5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9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opportunities to grow revenue, ratings, and retention.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87452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232C5E"/>
          </a:solidFill>
          <a:ln/>
        </p:spPr>
      </p:sp>
      <p:sp>
        <p:nvSpPr>
          <p:cNvPr id="7" name="Shape 5"/>
          <p:cNvSpPr/>
          <p:nvPr/>
        </p:nvSpPr>
        <p:spPr>
          <a:xfrm>
            <a:off x="987552" y="2130552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2258568"/>
            <a:ext cx="246888" cy="2468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45920" y="213055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the Rating Score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005840" y="274320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2.99/5 average signals a service-quality gap. Investigate low-rated orders by cuisine and restaurant tier to target fixes.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309360" y="187452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232C5E"/>
          </a:solidFill>
          <a:ln/>
        </p:spPr>
      </p:sp>
      <p:sp>
        <p:nvSpPr>
          <p:cNvPr id="12" name="Shape 9"/>
          <p:cNvSpPr/>
          <p:nvPr/>
        </p:nvSpPr>
        <p:spPr>
          <a:xfrm>
            <a:off x="6565392" y="2130552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08" y="2258568"/>
            <a:ext cx="246888" cy="2468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23760" y="213055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Repeat Orders Beyond 50%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6583680" y="274320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loyalty perks and personalized re-order prompts for the 50% of customers who haven't returned yet.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731520" y="406908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232C5E"/>
          </a:solidFill>
          <a:ln/>
        </p:spPr>
      </p:sp>
      <p:sp>
        <p:nvSpPr>
          <p:cNvPr id="17" name="Shape 13"/>
          <p:cNvSpPr/>
          <p:nvPr/>
        </p:nvSpPr>
        <p:spPr>
          <a:xfrm>
            <a:off x="987552" y="4325112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4453128"/>
            <a:ext cx="246888" cy="24688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45920" y="432511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Up 'Slow' Deliveries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1005840" y="493776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deliveries trail Average and Fast by ~3K orders — prioritize routing and staffing fixes in that segment.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309360" y="406908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232C5E"/>
          </a:solidFill>
          <a:ln/>
        </p:spPr>
      </p:sp>
      <p:sp>
        <p:nvSpPr>
          <p:cNvPr id="22" name="Shape 17"/>
          <p:cNvSpPr/>
          <p:nvPr/>
        </p:nvSpPr>
        <p:spPr>
          <a:xfrm>
            <a:off x="6565392" y="4325112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08" y="4453128"/>
            <a:ext cx="246888" cy="24688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223760" y="432511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into Mood-Based Marketing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6583680" y="493776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comfort-food bundles for 'Stressed' moments and celebratory add-ons for festive occasions.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731520" y="6263640"/>
            <a:ext cx="2011680" cy="0"/>
          </a:xfrm>
          <a:prstGeom prst="line">
            <a:avLst/>
          </a:prstGeom>
          <a:noFill/>
          <a:ln w="25400">
            <a:solidFill>
              <a:srgbClr val="F96167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731520" y="6355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Source: Food Ordering Distribution Power BI Dashboard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Food Ordering Trends &amp; Customer Insight</dc:title>
  <dc:subject>PptxGenJS Presentation</dc:subject>
  <dc:creator>Food Ordering Analytics</dc:creator>
  <cp:lastModifiedBy>Food Ordering Analytics</cp:lastModifiedBy>
  <cp:revision>1</cp:revision>
  <dcterms:created xsi:type="dcterms:W3CDTF">2026-07-06T21:55:31Z</dcterms:created>
  <dcterms:modified xsi:type="dcterms:W3CDTF">2026-07-06T21:55:31Z</dcterms:modified>
</cp:coreProperties>
</file>